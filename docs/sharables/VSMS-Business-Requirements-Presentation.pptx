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Sale</a:t>
            </a:r>
            <a:endParaRPr lang="en-US" sz="3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System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VA Motors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1.1  •  March 2026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System?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your dealership relies on paper documents and manual tracking for purchases, sales, repairs, and finances. This creates real challenges: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54864" cy="1234440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Paperwork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records get misplaced, damaged, or are hard to find when needed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96596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965960"/>
            <a:ext cx="54864" cy="1234440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Profit Visibility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know the true cost and profit on each vehicle you sell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52044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20440"/>
            <a:ext cx="54864" cy="1234440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Tracking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Repairs, advances, and customer details tracked across scattered files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52044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520440"/>
            <a:ext cx="54864" cy="1234440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Reporting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Compiling business reports is time-consuming and error-prone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web-based system that manages the entire vehicle lifecycle — from purchase to sale — giving you full control, complete records, and real-time visibility into your business.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756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116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paperless — every record stored digitally and searchable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60604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6700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06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vehicle from the moment you buy it to the moment you sell it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6440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004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true cost and profit on every vehicle automatically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85876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79476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who can do what with flexible user roles and approvals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731520" y="438912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45312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43891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it from any device — computer, tablet, or phone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377440" cy="1188720"/>
          </a:xfrm>
          <a:prstGeom prst="rect">
            <a:avLst/>
          </a:prstGeom>
          <a:solidFill>
            <a:srgbClr val="2434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123444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83280" y="1097280"/>
            <a:ext cx="2377440" cy="1188720"/>
          </a:xfrm>
          <a:prstGeom prst="rect">
            <a:avLst/>
          </a:prstGeom>
          <a:solidFill>
            <a:srgbClr val="24345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234440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35040" y="1097280"/>
            <a:ext cx="2377440" cy="1188720"/>
          </a:xfrm>
          <a:prstGeom prst="rect">
            <a:avLst/>
          </a:prstGeom>
          <a:solidFill>
            <a:srgbClr val="24345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1234440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504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31520" y="2560320"/>
            <a:ext cx="2377440" cy="1188720"/>
          </a:xfrm>
          <a:prstGeom prst="rect">
            <a:avLst/>
          </a:prstGeom>
          <a:solidFill>
            <a:srgbClr val="24345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2697480"/>
            <a:ext cx="402336" cy="40233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152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Records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383280" y="2560320"/>
            <a:ext cx="2377440" cy="1188720"/>
          </a:xfrm>
          <a:prstGeom prst="rect">
            <a:avLst/>
          </a:prstGeom>
          <a:solidFill>
            <a:srgbClr val="243454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2697480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8328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Finances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035040" y="2560320"/>
            <a:ext cx="2377440" cy="1188720"/>
          </a:xfrm>
          <a:prstGeom prst="rect">
            <a:avLst/>
          </a:prstGeom>
          <a:solidFill>
            <a:srgbClr val="243454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2697480"/>
            <a:ext cx="402336" cy="40233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3504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731520" y="4023360"/>
            <a:ext cx="2377440" cy="1188720"/>
          </a:xfrm>
          <a:prstGeom prst="rect">
            <a:avLst/>
          </a:prstGeom>
          <a:solidFill>
            <a:srgbClr val="243454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9072" y="4160520"/>
            <a:ext cx="402336" cy="40233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31520" y="4617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3383280" y="4023360"/>
            <a:ext cx="2377440" cy="1188720"/>
          </a:xfrm>
          <a:prstGeom prst="rect">
            <a:avLst/>
          </a:prstGeom>
          <a:solidFill>
            <a:srgbClr val="243454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0832" y="4160520"/>
            <a:ext cx="402336" cy="40233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383280" y="4617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6035040" y="4023360"/>
            <a:ext cx="2377440" cy="1188720"/>
          </a:xfrm>
          <a:prstGeom prst="rect">
            <a:avLst/>
          </a:prstGeom>
          <a:solidFill>
            <a:srgbClr val="243454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2592" y="4160520"/>
            <a:ext cx="402336" cy="40233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035040" y="4617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Permissions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You'll Record Purchases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A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purchase channels — all in one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618488"/>
            <a:ext cx="502920" cy="502920"/>
          </a:xfrm>
          <a:prstGeom prst="ellipse">
            <a:avLst/>
          </a:prstGeom>
          <a:solidFill>
            <a:srgbClr val="C8944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1527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Purchase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8562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 secondhand vehicle for cash. Record the vehicle details, supplier, purchase amount, and date.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2761488"/>
            <a:ext cx="502920" cy="502920"/>
          </a:xfrm>
          <a:prstGeom prst="ellipse">
            <a:avLst/>
          </a:prstGeom>
          <a:solidFill>
            <a:srgbClr val="C894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2670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Lease Settlement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29992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a lease with the bank or finance company. Record the settlement amount paid to the institution and the cash paid to the seller.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3904488"/>
            <a:ext cx="502920" cy="502920"/>
          </a:xfrm>
          <a:prstGeom prst="ellipse">
            <a:avLst/>
          </a:prstGeom>
          <a:solidFill>
            <a:srgbClr val="C894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3813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Brand-New from Supplier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41422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 brand-new vehicle from a company supplier. Registration number can be added later — it won't hold anything up.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record captures: make, model, year, colour, engine &amp; chassis numbers, mileage, fuel type, and more.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You'll Record Sales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A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sale types — each with its own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36576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— Immediate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the full amount (cash or bank transfer) and takes the vehicle.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36576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with Advance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reserves with an advance payment. Validity period is calculated automatically based on the amount paid.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154680"/>
            <a:ext cx="36576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Lease / Finance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703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finances through a third party. Down payment is recorded. Sale is finalised when the Delivery Order arrives.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5468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54680"/>
            <a:ext cx="36576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3703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offers an existing vehicle as part-payment. The system shows the balance due after deducting the trade-in value.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Repairs &amp; Write-Offs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C894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Repair Management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5740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vehicles to repair vendors with a clear repair request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46888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status automatically changes to 'In Repair'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88036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final invoice amount when the vehicle returns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29184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2588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repair history kept for every vehicle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70332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2588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costs automatically added to the vehicle's total cost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754880" y="118872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1463040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57784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Write-Off &amp; Disposal</a:t>
            </a:r>
            <a:endParaRPr lang="en-US" sz="18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057400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4924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write-off request with a mandatory reason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514600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349240" y="2468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must approve before the vehicle is written off</a:t>
            </a:r>
            <a:endParaRPr lang="en-US" sz="11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971800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34924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proceeds are recorded (even if zero)</a:t>
            </a:r>
            <a:endParaRPr lang="en-US" sz="11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429000"/>
            <a:ext cx="201168" cy="20116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349240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 on every vehicle that leaves your lot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moves through clear stages — the system tracks it all automatically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188720" cy="685800"/>
          </a:xfrm>
          <a:prstGeom prst="rect">
            <a:avLst/>
          </a:prstGeom>
          <a:solidFill>
            <a:srgbClr val="24345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544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1554480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92808" y="1554480"/>
            <a:ext cx="1188720" cy="685800"/>
          </a:xfrm>
          <a:prstGeom prst="rect">
            <a:avLst/>
          </a:prstGeom>
          <a:solidFill>
            <a:srgbClr val="243454"/>
          </a:solidFill>
          <a:ln/>
        </p:spPr>
      </p:sp>
      <p:sp>
        <p:nvSpPr>
          <p:cNvPr id="9" name="Text 7"/>
          <p:cNvSpPr/>
          <p:nvPr/>
        </p:nvSpPr>
        <p:spPr>
          <a:xfrm>
            <a:off x="1892808" y="15544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81528" y="1554480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82696" y="1554480"/>
            <a:ext cx="1188720" cy="685800"/>
          </a:xfrm>
          <a:prstGeom prst="rect">
            <a:avLst/>
          </a:prstGeom>
          <a:solidFill>
            <a:srgbClr val="243454"/>
          </a:solidFill>
          <a:ln/>
        </p:spPr>
      </p:sp>
      <p:sp>
        <p:nvSpPr>
          <p:cNvPr id="12" name="Text 10"/>
          <p:cNvSpPr/>
          <p:nvPr/>
        </p:nvSpPr>
        <p:spPr>
          <a:xfrm>
            <a:off x="3282696" y="15544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Repair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71416" y="1554480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72584" y="1554480"/>
            <a:ext cx="1188720" cy="685800"/>
          </a:xfrm>
          <a:prstGeom prst="rect">
            <a:avLst/>
          </a:prstGeom>
          <a:solidFill>
            <a:srgbClr val="243454"/>
          </a:solidFill>
          <a:ln/>
        </p:spPr>
      </p:sp>
      <p:sp>
        <p:nvSpPr>
          <p:cNvPr id="15" name="Text 13"/>
          <p:cNvSpPr/>
          <p:nvPr/>
        </p:nvSpPr>
        <p:spPr>
          <a:xfrm>
            <a:off x="4672584" y="15544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61304" y="1554480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62472" y="1554480"/>
            <a:ext cx="1188720" cy="685800"/>
          </a:xfrm>
          <a:prstGeom prst="rect">
            <a:avLst/>
          </a:prstGeom>
          <a:solidFill>
            <a:srgbClr val="243454"/>
          </a:solidFill>
          <a:ln/>
        </p:spPr>
      </p:sp>
      <p:sp>
        <p:nvSpPr>
          <p:cNvPr id="18" name="Text 16"/>
          <p:cNvSpPr/>
          <p:nvPr/>
        </p:nvSpPr>
        <p:spPr>
          <a:xfrm>
            <a:off x="6062472" y="15544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51192" y="1554480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52360" y="1554480"/>
            <a:ext cx="1188720" cy="685800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15544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enforces valid transitions between stages. A vehicle can only move to a status that reflects an actual recorded transaction — no manual shortcuts allowed.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3200400"/>
            <a:ext cx="6400800" cy="1371600"/>
          </a:xfrm>
          <a:prstGeom prst="rect">
            <a:avLst/>
          </a:prstGeom>
          <a:solidFill>
            <a:srgbClr val="243454"/>
          </a:solidFill>
          <a:ln/>
        </p:spPr>
      </p:sp>
      <p:sp>
        <p:nvSpPr>
          <p:cNvPr id="24" name="Text 22"/>
          <p:cNvSpPr/>
          <p:nvPr/>
        </p:nvSpPr>
        <p:spPr>
          <a:xfrm>
            <a:off x="1645920" y="3337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Availability Control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45920" y="37033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in-stock vehicle also has an availability flag. You can mark a vehicle as 'Not Available for Sale' with a reason (e.g. not yet in showroom). Vehicles in repair, under advance, or in the finance process are automatically marked as unavailable.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Keeping You in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64208" y="141732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5087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 Approvals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542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below listed price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write-offs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29000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364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refunds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0480"/>
            <a:ext cx="164592" cy="1645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43000" y="37764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to completed sales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3566160" y="118872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498848" y="141732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288" y="1508760"/>
            <a:ext cx="329184" cy="32918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70332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Audit Trail</a:t>
            </a:r>
            <a:endParaRPr lang="en-US" sz="15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2606040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977640" y="2542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recorded with who, when, and what</a:t>
            </a:r>
            <a:endParaRPr lang="en-US" sz="11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3017520"/>
            <a:ext cx="164592" cy="16459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977640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values for every edit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3429000"/>
            <a:ext cx="164592" cy="16459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3977640" y="3364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altered by anyone — even admins</a:t>
            </a:r>
            <a:endParaRPr lang="en-US" sz="1100" dirty="0"/>
          </a:p>
        </p:txBody>
      </p:sp>
      <p:sp>
        <p:nvSpPr>
          <p:cNvPr id="26" name="Shape 15"/>
          <p:cNvSpPr/>
          <p:nvPr/>
        </p:nvSpPr>
        <p:spPr>
          <a:xfrm>
            <a:off x="6400800" y="118872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16"/>
          <p:cNvSpPr/>
          <p:nvPr/>
        </p:nvSpPr>
        <p:spPr>
          <a:xfrm>
            <a:off x="7333488" y="141732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4928" y="1508760"/>
            <a:ext cx="329184" cy="32918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53796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</a:t>
            </a:r>
            <a:endParaRPr lang="en-US" sz="15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2606040"/>
            <a:ext cx="164592" cy="164592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812280" y="2542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approaching expiry</a:t>
            </a:r>
            <a:endParaRPr lang="en-US" sz="11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0" y="3017520"/>
            <a:ext cx="164592" cy="164592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812280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expired</a:t>
            </a:r>
            <a:endParaRPr lang="en-US" sz="110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0" y="3429000"/>
            <a:ext cx="164592" cy="164592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6812280" y="3364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returned from repair</a:t>
            </a:r>
            <a:endParaRPr lang="en-US" sz="110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3680" y="3840480"/>
            <a:ext cx="164592" cy="164592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6812280" y="37764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requests &amp; outcomes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 at Your Fingertips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A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ready-made reports — all filterable by date range, exportable as CSV or PDF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904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Vehicle Inventory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0" y="1417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all vehicles, their status, cost, and listed price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892808"/>
            <a:ext cx="7680960" cy="411480"/>
          </a:xfrm>
          <a:prstGeom prst="rect">
            <a:avLst/>
          </a:prstGeom>
          <a:solidFill>
            <a:srgbClr val="F5F0E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18928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Vehicles Sold per Period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114800" y="1892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sales in a date range with profit/loss per vehicle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2368296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4144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23682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per Vehicle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114800" y="23682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cost breakdown and gross profit for any vehicle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31520" y="2843784"/>
            <a:ext cx="7680960" cy="411480"/>
          </a:xfrm>
          <a:prstGeom prst="rect">
            <a:avLst/>
          </a:prstGeom>
          <a:solidFill>
            <a:srgbClr val="F5F0E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1693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28437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Outstanding Advances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114800" y="28437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and expired reservations with days remaining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31520" y="3319272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9242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33192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Vehicles in Repair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114800" y="33192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vehicles are at which vendor, and how long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731520" y="3794760"/>
            <a:ext cx="7680960" cy="411480"/>
          </a:xfrm>
          <a:prstGeom prst="rect">
            <a:avLst/>
          </a:prstGeom>
          <a:solidFill>
            <a:srgbClr val="F5F0E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867912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325880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Flow Summary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114800" y="3794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 vs money out for any period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731520" y="4270248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343400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25880" y="4270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Write-Off &amp; Disposal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4114800" y="4270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written-off vehicles with reasons and proceeds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on Every Device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560320" cy="2743200"/>
          </a:xfrm>
          <a:prstGeom prst="rect">
            <a:avLst/>
          </a:prstGeom>
          <a:solidFill>
            <a:srgbClr val="2434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software to install. Open a browser and you're 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280160"/>
            <a:ext cx="2560320" cy="2743200"/>
          </a:xfrm>
          <a:prstGeom prst="rect">
            <a:avLst/>
          </a:prstGeom>
          <a:solidFill>
            <a:srgbClr val="243454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PWA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4904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 your phone or tablet for an app-like experience.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280160"/>
            <a:ext cx="2560320" cy="2743200"/>
          </a:xfrm>
          <a:prstGeom prst="rect">
            <a:avLst/>
          </a:prstGeom>
          <a:solidFill>
            <a:srgbClr val="24345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anywhere — office, showroom, or on the road.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encrypted  •  Role-based access control  •  Secure login required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Not Included (For Now)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items can be added in future phases if needed: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 (iOS / Android)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email, or push notifications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or finance company integrations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or regulatory compliance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or multi-branch support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website or online listings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valuation or market price tools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840480"/>
            <a:ext cx="54864" cy="731520"/>
          </a:xfrm>
          <a:prstGeom prst="rect">
            <a:avLst/>
          </a:prstGeom>
          <a:solidFill>
            <a:srgbClr val="C894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8404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C3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these features can be scoped and estimated separately as a future enhancement.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83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2286000" y="2560320"/>
            <a:ext cx="411480" cy="411480"/>
          </a:xfrm>
          <a:prstGeom prst="ellipse">
            <a:avLst/>
          </a:prstGeom>
          <a:solidFill>
            <a:srgbClr val="C8944A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80360" y="2560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document and confirm the requirements are complete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286000" y="3154680"/>
            <a:ext cx="411480" cy="411480"/>
          </a:xfrm>
          <a:prstGeom prst="ellipse">
            <a:avLst/>
          </a:prstGeom>
          <a:solidFill>
            <a:srgbClr val="C8944A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88036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the Business Requirements Specification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286000" y="3749040"/>
            <a:ext cx="411480" cy="411480"/>
          </a:xfrm>
          <a:prstGeom prst="ellipse">
            <a:avLst/>
          </a:prstGeom>
          <a:solidFill>
            <a:srgbClr val="C8944A"/>
          </a:solidFill>
          <a:ln/>
        </p:spPr>
      </p:sp>
      <p:sp>
        <p:nvSpPr>
          <p:cNvPr id="12" name="Text 9"/>
          <p:cNvSpPr/>
          <p:nvPr/>
        </p:nvSpPr>
        <p:spPr>
          <a:xfrm>
            <a:off x="22860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880360" y="3749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begin system design and development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 forward to building this system for VA Motors.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944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Sale Management System — VA Motors</dc:title>
  <dc:subject>PptxGenJS Presentation</dc:subject>
  <dc:creator>DIGIS Global</dc:creator>
  <cp:lastModifiedBy>DIGIS Global</cp:lastModifiedBy>
  <cp:revision>1</cp:revision>
  <dcterms:created xsi:type="dcterms:W3CDTF">2026-03-07T09:27:33Z</dcterms:created>
  <dcterms:modified xsi:type="dcterms:W3CDTF">2026-03-07T09:27:33Z</dcterms:modified>
</cp:coreProperties>
</file>